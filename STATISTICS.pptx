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1"/>
  </p:notesMasterIdLst>
  <p:sldIdLst>
    <p:sldId id="259" r:id="rId2"/>
    <p:sldId id="256" r:id="rId3"/>
    <p:sldId id="262" r:id="rId4"/>
    <p:sldId id="257" r:id="rId5"/>
    <p:sldId id="258" r:id="rId6"/>
    <p:sldId id="260"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10C4D5-02DB-4B1A-B306-9BA0492ECF16}"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GB"/>
        </a:p>
      </dgm:t>
    </dgm:pt>
    <dgm:pt modelId="{5B1AE51B-FFF1-462D-BFE8-86E7B885EE61}">
      <dgm:prSet phldrT="[Text]" phldr="0"/>
      <dgm:spPr/>
      <dgm:t>
        <a:bodyPr/>
        <a:lstStyle/>
        <a:p>
          <a:r>
            <a:rPr lang="en-GB" dirty="0"/>
            <a:t>Qualitative/Categorial Data</a:t>
          </a:r>
        </a:p>
      </dgm:t>
    </dgm:pt>
    <dgm:pt modelId="{3B74C2FA-CC2B-4782-8E17-4655B161BAE1}" type="parTrans" cxnId="{C050702A-A118-4244-BAF5-D665A2B394BA}">
      <dgm:prSet/>
      <dgm:spPr/>
      <dgm:t>
        <a:bodyPr/>
        <a:lstStyle/>
        <a:p>
          <a:endParaRPr lang="en-GB"/>
        </a:p>
      </dgm:t>
    </dgm:pt>
    <dgm:pt modelId="{20565549-7107-4A07-AAA6-C169EC35D4D5}" type="sibTrans" cxnId="{C050702A-A118-4244-BAF5-D665A2B394BA}">
      <dgm:prSet/>
      <dgm:spPr/>
      <dgm:t>
        <a:bodyPr/>
        <a:lstStyle/>
        <a:p>
          <a:endParaRPr lang="en-GB"/>
        </a:p>
      </dgm:t>
    </dgm:pt>
    <dgm:pt modelId="{CDAF6296-405C-46F9-94E7-532493241C10}">
      <dgm:prSet phldrT="[Text]" phldr="0"/>
      <dgm:spPr/>
      <dgm:t>
        <a:bodyPr/>
        <a:lstStyle/>
        <a:p>
          <a:r>
            <a:rPr lang="en-GB" dirty="0"/>
            <a:t>Nominal Data</a:t>
          </a:r>
        </a:p>
      </dgm:t>
    </dgm:pt>
    <dgm:pt modelId="{D3F647AC-9F24-4F61-9BB3-3EC6C4904943}" type="parTrans" cxnId="{E083E838-72AD-46B5-9ED2-DE8E0912E924}">
      <dgm:prSet/>
      <dgm:spPr/>
      <dgm:t>
        <a:bodyPr/>
        <a:lstStyle/>
        <a:p>
          <a:endParaRPr lang="en-GB"/>
        </a:p>
      </dgm:t>
    </dgm:pt>
    <dgm:pt modelId="{82421B14-7F13-492C-9965-4FD52C6D1B0A}" type="sibTrans" cxnId="{E083E838-72AD-46B5-9ED2-DE8E0912E924}">
      <dgm:prSet/>
      <dgm:spPr/>
      <dgm:t>
        <a:bodyPr/>
        <a:lstStyle/>
        <a:p>
          <a:endParaRPr lang="en-GB"/>
        </a:p>
      </dgm:t>
    </dgm:pt>
    <dgm:pt modelId="{C4CD9B7A-CCDB-434E-9D56-642D71F19755}">
      <dgm:prSet phldrT="[Text]" phldr="0"/>
      <dgm:spPr/>
      <dgm:t>
        <a:bodyPr/>
        <a:lstStyle/>
        <a:p>
          <a:r>
            <a:rPr lang="en-GB" dirty="0"/>
            <a:t>Ordinal Data</a:t>
          </a:r>
        </a:p>
      </dgm:t>
    </dgm:pt>
    <dgm:pt modelId="{ED78FE8D-566D-4D1C-AE64-DB673896C5C0}" type="parTrans" cxnId="{383FC92D-ABC0-4960-B586-7F28770C796F}">
      <dgm:prSet/>
      <dgm:spPr/>
      <dgm:t>
        <a:bodyPr/>
        <a:lstStyle/>
        <a:p>
          <a:endParaRPr lang="en-GB"/>
        </a:p>
      </dgm:t>
    </dgm:pt>
    <dgm:pt modelId="{DBBB39DD-C88E-43D4-BEC5-C820C5995CB9}" type="sibTrans" cxnId="{383FC92D-ABC0-4960-B586-7F28770C796F}">
      <dgm:prSet/>
      <dgm:spPr/>
      <dgm:t>
        <a:bodyPr/>
        <a:lstStyle/>
        <a:p>
          <a:endParaRPr lang="en-GB"/>
        </a:p>
      </dgm:t>
    </dgm:pt>
    <dgm:pt modelId="{2872612C-ACBD-40CA-8E23-E2D2AEF51AFE}">
      <dgm:prSet phldrT="[Text]" phldr="0"/>
      <dgm:spPr/>
      <dgm:t>
        <a:bodyPr/>
        <a:lstStyle/>
        <a:p>
          <a:r>
            <a:rPr lang="en-GB" dirty="0"/>
            <a:t>Quantitative/Numerical Data</a:t>
          </a:r>
        </a:p>
      </dgm:t>
    </dgm:pt>
    <dgm:pt modelId="{D7F564EA-4AFF-47B4-962B-E627B857EC9D}" type="parTrans" cxnId="{295DC786-363A-48B1-83ED-F0C51269B7D4}">
      <dgm:prSet/>
      <dgm:spPr/>
      <dgm:t>
        <a:bodyPr/>
        <a:lstStyle/>
        <a:p>
          <a:endParaRPr lang="en-GB"/>
        </a:p>
      </dgm:t>
    </dgm:pt>
    <dgm:pt modelId="{D59653F6-6F5A-441F-9C69-042D35F200E2}" type="sibTrans" cxnId="{295DC786-363A-48B1-83ED-F0C51269B7D4}">
      <dgm:prSet/>
      <dgm:spPr/>
      <dgm:t>
        <a:bodyPr/>
        <a:lstStyle/>
        <a:p>
          <a:endParaRPr lang="en-GB"/>
        </a:p>
      </dgm:t>
    </dgm:pt>
    <dgm:pt modelId="{0FA4412D-19D8-4BC4-AA95-04AA56A34212}">
      <dgm:prSet phldrT="[Text]" phldr="0"/>
      <dgm:spPr/>
      <dgm:t>
        <a:bodyPr/>
        <a:lstStyle/>
        <a:p>
          <a:r>
            <a:rPr lang="en-GB" dirty="0"/>
            <a:t>Discrete Data</a:t>
          </a:r>
        </a:p>
      </dgm:t>
    </dgm:pt>
    <dgm:pt modelId="{98DAB4DB-D916-47A7-B9AC-2AEF9E2EB5B5}" type="parTrans" cxnId="{FD1D38DF-F33F-4F44-BC2E-6EC0B0248EC5}">
      <dgm:prSet/>
      <dgm:spPr/>
      <dgm:t>
        <a:bodyPr/>
        <a:lstStyle/>
        <a:p>
          <a:endParaRPr lang="en-GB"/>
        </a:p>
      </dgm:t>
    </dgm:pt>
    <dgm:pt modelId="{9128E63D-5A2B-48D5-8DC7-663DC20BA341}" type="sibTrans" cxnId="{FD1D38DF-F33F-4F44-BC2E-6EC0B0248EC5}">
      <dgm:prSet/>
      <dgm:spPr/>
      <dgm:t>
        <a:bodyPr/>
        <a:lstStyle/>
        <a:p>
          <a:endParaRPr lang="en-GB"/>
        </a:p>
      </dgm:t>
    </dgm:pt>
    <dgm:pt modelId="{1F581513-5322-4F85-AD7F-743FB46B5268}">
      <dgm:prSet phldrT="[Text]" phldr="0"/>
      <dgm:spPr/>
      <dgm:t>
        <a:bodyPr/>
        <a:lstStyle/>
        <a:p>
          <a:r>
            <a:rPr lang="en-GB" dirty="0"/>
            <a:t>Continuous Data</a:t>
          </a:r>
        </a:p>
      </dgm:t>
    </dgm:pt>
    <dgm:pt modelId="{EDCD0BF1-BBE0-4083-9304-A2328156875E}" type="parTrans" cxnId="{2FFD3BAA-EB80-4967-8272-D00A8498BE15}">
      <dgm:prSet/>
      <dgm:spPr/>
      <dgm:t>
        <a:bodyPr/>
        <a:lstStyle/>
        <a:p>
          <a:endParaRPr lang="en-GB"/>
        </a:p>
      </dgm:t>
    </dgm:pt>
    <dgm:pt modelId="{8BDC3CA0-6F2D-4FFA-A827-9E2B09176CD8}" type="sibTrans" cxnId="{2FFD3BAA-EB80-4967-8272-D00A8498BE15}">
      <dgm:prSet/>
      <dgm:spPr/>
      <dgm:t>
        <a:bodyPr/>
        <a:lstStyle/>
        <a:p>
          <a:endParaRPr lang="en-GB"/>
        </a:p>
      </dgm:t>
    </dgm:pt>
    <dgm:pt modelId="{CD76A416-1740-4E19-A7DF-76C913325038}" type="pres">
      <dgm:prSet presAssocID="{F710C4D5-02DB-4B1A-B306-9BA0492ECF16}" presName="diagram" presStyleCnt="0">
        <dgm:presLayoutVars>
          <dgm:chPref val="1"/>
          <dgm:dir/>
          <dgm:animOne val="branch"/>
          <dgm:animLvl val="lvl"/>
          <dgm:resizeHandles/>
        </dgm:presLayoutVars>
      </dgm:prSet>
      <dgm:spPr/>
    </dgm:pt>
    <dgm:pt modelId="{B5047999-4E89-49D1-B056-21BB2D098E73}" type="pres">
      <dgm:prSet presAssocID="{5B1AE51B-FFF1-462D-BFE8-86E7B885EE61}" presName="root" presStyleCnt="0"/>
      <dgm:spPr/>
    </dgm:pt>
    <dgm:pt modelId="{A913AF81-5816-419D-ADF7-DE369A1B9DC7}" type="pres">
      <dgm:prSet presAssocID="{5B1AE51B-FFF1-462D-BFE8-86E7B885EE61}" presName="rootComposite" presStyleCnt="0"/>
      <dgm:spPr/>
    </dgm:pt>
    <dgm:pt modelId="{23AB3CE9-1567-4B50-997B-FDBBB7F4F497}" type="pres">
      <dgm:prSet presAssocID="{5B1AE51B-FFF1-462D-BFE8-86E7B885EE61}" presName="rootText" presStyleLbl="node1" presStyleIdx="0" presStyleCnt="2" custScaleX="134639"/>
      <dgm:spPr/>
    </dgm:pt>
    <dgm:pt modelId="{AAC8D42E-C9AE-406C-8C1E-4ABFA97EE8D4}" type="pres">
      <dgm:prSet presAssocID="{5B1AE51B-FFF1-462D-BFE8-86E7B885EE61}" presName="rootConnector" presStyleLbl="node1" presStyleIdx="0" presStyleCnt="2"/>
      <dgm:spPr/>
    </dgm:pt>
    <dgm:pt modelId="{654EAE30-A1E7-4064-BE16-E024949D65CD}" type="pres">
      <dgm:prSet presAssocID="{5B1AE51B-FFF1-462D-BFE8-86E7B885EE61}" presName="childShape" presStyleCnt="0"/>
      <dgm:spPr/>
    </dgm:pt>
    <dgm:pt modelId="{A32C94E5-6D74-4828-A799-FA883C13C63C}" type="pres">
      <dgm:prSet presAssocID="{D3F647AC-9F24-4F61-9BB3-3EC6C4904943}" presName="Name13" presStyleLbl="parChTrans1D2" presStyleIdx="0" presStyleCnt="4"/>
      <dgm:spPr/>
    </dgm:pt>
    <dgm:pt modelId="{B7859BD4-454A-43D3-8798-23E8E074EA6B}" type="pres">
      <dgm:prSet presAssocID="{CDAF6296-405C-46F9-94E7-532493241C10}" presName="childText" presStyleLbl="bgAcc1" presStyleIdx="0" presStyleCnt="4">
        <dgm:presLayoutVars>
          <dgm:bulletEnabled val="1"/>
        </dgm:presLayoutVars>
      </dgm:prSet>
      <dgm:spPr/>
    </dgm:pt>
    <dgm:pt modelId="{5F349E70-BF71-4D35-A370-3B4F1506C509}" type="pres">
      <dgm:prSet presAssocID="{ED78FE8D-566D-4D1C-AE64-DB673896C5C0}" presName="Name13" presStyleLbl="parChTrans1D2" presStyleIdx="1" presStyleCnt="4"/>
      <dgm:spPr/>
    </dgm:pt>
    <dgm:pt modelId="{9EC11BF1-6E06-49DB-AC88-78AD97E26832}" type="pres">
      <dgm:prSet presAssocID="{C4CD9B7A-CCDB-434E-9D56-642D71F19755}" presName="childText" presStyleLbl="bgAcc1" presStyleIdx="1" presStyleCnt="4">
        <dgm:presLayoutVars>
          <dgm:bulletEnabled val="1"/>
        </dgm:presLayoutVars>
      </dgm:prSet>
      <dgm:spPr/>
    </dgm:pt>
    <dgm:pt modelId="{24582425-FD31-4A12-8AF7-A156FC80652E}" type="pres">
      <dgm:prSet presAssocID="{2872612C-ACBD-40CA-8E23-E2D2AEF51AFE}" presName="root" presStyleCnt="0"/>
      <dgm:spPr/>
    </dgm:pt>
    <dgm:pt modelId="{1E50A730-7EB3-400B-A0E4-2CE10217611E}" type="pres">
      <dgm:prSet presAssocID="{2872612C-ACBD-40CA-8E23-E2D2AEF51AFE}" presName="rootComposite" presStyleCnt="0"/>
      <dgm:spPr/>
    </dgm:pt>
    <dgm:pt modelId="{F960C26E-503C-4997-8DE1-D489BD2846C6}" type="pres">
      <dgm:prSet presAssocID="{2872612C-ACBD-40CA-8E23-E2D2AEF51AFE}" presName="rootText" presStyleLbl="node1" presStyleIdx="1" presStyleCnt="2" custScaleX="133210"/>
      <dgm:spPr/>
    </dgm:pt>
    <dgm:pt modelId="{E5A2E4D5-10E9-4CC3-B40B-E298A4DB4C7F}" type="pres">
      <dgm:prSet presAssocID="{2872612C-ACBD-40CA-8E23-E2D2AEF51AFE}" presName="rootConnector" presStyleLbl="node1" presStyleIdx="1" presStyleCnt="2"/>
      <dgm:spPr/>
    </dgm:pt>
    <dgm:pt modelId="{2B5CBAEA-21CB-488A-8167-BB6A4F814A53}" type="pres">
      <dgm:prSet presAssocID="{2872612C-ACBD-40CA-8E23-E2D2AEF51AFE}" presName="childShape" presStyleCnt="0"/>
      <dgm:spPr/>
    </dgm:pt>
    <dgm:pt modelId="{8C66CC7F-BE18-4B00-94F7-B041F1C4D624}" type="pres">
      <dgm:prSet presAssocID="{98DAB4DB-D916-47A7-B9AC-2AEF9E2EB5B5}" presName="Name13" presStyleLbl="parChTrans1D2" presStyleIdx="2" presStyleCnt="4"/>
      <dgm:spPr/>
    </dgm:pt>
    <dgm:pt modelId="{DA840424-BA2F-488F-B548-5540975023D2}" type="pres">
      <dgm:prSet presAssocID="{0FA4412D-19D8-4BC4-AA95-04AA56A34212}" presName="childText" presStyleLbl="bgAcc1" presStyleIdx="2" presStyleCnt="4">
        <dgm:presLayoutVars>
          <dgm:bulletEnabled val="1"/>
        </dgm:presLayoutVars>
      </dgm:prSet>
      <dgm:spPr/>
    </dgm:pt>
    <dgm:pt modelId="{0ED449DC-8FD6-45AA-AB56-57A4765AD2A9}" type="pres">
      <dgm:prSet presAssocID="{EDCD0BF1-BBE0-4083-9304-A2328156875E}" presName="Name13" presStyleLbl="parChTrans1D2" presStyleIdx="3" presStyleCnt="4"/>
      <dgm:spPr/>
    </dgm:pt>
    <dgm:pt modelId="{D3FDD98D-6E88-42A0-AC9D-EBBF07AA229F}" type="pres">
      <dgm:prSet presAssocID="{1F581513-5322-4F85-AD7F-743FB46B5268}" presName="childText" presStyleLbl="bgAcc1" presStyleIdx="3" presStyleCnt="4">
        <dgm:presLayoutVars>
          <dgm:bulletEnabled val="1"/>
        </dgm:presLayoutVars>
      </dgm:prSet>
      <dgm:spPr/>
    </dgm:pt>
  </dgm:ptLst>
  <dgm:cxnLst>
    <dgm:cxn modelId="{052B240B-39AA-49DB-BEF0-064AE04C55F3}" type="presOf" srcId="{ED78FE8D-566D-4D1C-AE64-DB673896C5C0}" destId="{5F349E70-BF71-4D35-A370-3B4F1506C509}" srcOrd="0" destOrd="0" presId="urn:microsoft.com/office/officeart/2005/8/layout/hierarchy3"/>
    <dgm:cxn modelId="{B44D8A1A-FE6D-43E4-8D08-08D353868A11}" type="presOf" srcId="{F710C4D5-02DB-4B1A-B306-9BA0492ECF16}" destId="{CD76A416-1740-4E19-A7DF-76C913325038}" srcOrd="0" destOrd="0" presId="urn:microsoft.com/office/officeart/2005/8/layout/hierarchy3"/>
    <dgm:cxn modelId="{C050702A-A118-4244-BAF5-D665A2B394BA}" srcId="{F710C4D5-02DB-4B1A-B306-9BA0492ECF16}" destId="{5B1AE51B-FFF1-462D-BFE8-86E7B885EE61}" srcOrd="0" destOrd="0" parTransId="{3B74C2FA-CC2B-4782-8E17-4655B161BAE1}" sibTransId="{20565549-7107-4A07-AAA6-C169EC35D4D5}"/>
    <dgm:cxn modelId="{383FC92D-ABC0-4960-B586-7F28770C796F}" srcId="{5B1AE51B-FFF1-462D-BFE8-86E7B885EE61}" destId="{C4CD9B7A-CCDB-434E-9D56-642D71F19755}" srcOrd="1" destOrd="0" parTransId="{ED78FE8D-566D-4D1C-AE64-DB673896C5C0}" sibTransId="{DBBB39DD-C88E-43D4-BEC5-C820C5995CB9}"/>
    <dgm:cxn modelId="{E083E838-72AD-46B5-9ED2-DE8E0912E924}" srcId="{5B1AE51B-FFF1-462D-BFE8-86E7B885EE61}" destId="{CDAF6296-405C-46F9-94E7-532493241C10}" srcOrd="0" destOrd="0" parTransId="{D3F647AC-9F24-4F61-9BB3-3EC6C4904943}" sibTransId="{82421B14-7F13-492C-9965-4FD52C6D1B0A}"/>
    <dgm:cxn modelId="{CB80B342-3411-4BE1-B726-2522908D083E}" type="presOf" srcId="{5B1AE51B-FFF1-462D-BFE8-86E7B885EE61}" destId="{23AB3CE9-1567-4B50-997B-FDBBB7F4F497}" srcOrd="0" destOrd="0" presId="urn:microsoft.com/office/officeart/2005/8/layout/hierarchy3"/>
    <dgm:cxn modelId="{1F14007B-8BBC-413F-B9DF-62417E8980C5}" type="presOf" srcId="{EDCD0BF1-BBE0-4083-9304-A2328156875E}" destId="{0ED449DC-8FD6-45AA-AB56-57A4765AD2A9}" srcOrd="0" destOrd="0" presId="urn:microsoft.com/office/officeart/2005/8/layout/hierarchy3"/>
    <dgm:cxn modelId="{295DC786-363A-48B1-83ED-F0C51269B7D4}" srcId="{F710C4D5-02DB-4B1A-B306-9BA0492ECF16}" destId="{2872612C-ACBD-40CA-8E23-E2D2AEF51AFE}" srcOrd="1" destOrd="0" parTransId="{D7F564EA-4AFF-47B4-962B-E627B857EC9D}" sibTransId="{D59653F6-6F5A-441F-9C69-042D35F200E2}"/>
    <dgm:cxn modelId="{5BEFDE88-44A0-42CA-9143-098F4BFCAEB6}" type="presOf" srcId="{C4CD9B7A-CCDB-434E-9D56-642D71F19755}" destId="{9EC11BF1-6E06-49DB-AC88-78AD97E26832}" srcOrd="0" destOrd="0" presId="urn:microsoft.com/office/officeart/2005/8/layout/hierarchy3"/>
    <dgm:cxn modelId="{BF937194-9A52-4A12-B30C-D3AF23618A7B}" type="presOf" srcId="{0FA4412D-19D8-4BC4-AA95-04AA56A34212}" destId="{DA840424-BA2F-488F-B548-5540975023D2}" srcOrd="0" destOrd="0" presId="urn:microsoft.com/office/officeart/2005/8/layout/hierarchy3"/>
    <dgm:cxn modelId="{2FFD3BAA-EB80-4967-8272-D00A8498BE15}" srcId="{2872612C-ACBD-40CA-8E23-E2D2AEF51AFE}" destId="{1F581513-5322-4F85-AD7F-743FB46B5268}" srcOrd="1" destOrd="0" parTransId="{EDCD0BF1-BBE0-4083-9304-A2328156875E}" sibTransId="{8BDC3CA0-6F2D-4FFA-A827-9E2B09176CD8}"/>
    <dgm:cxn modelId="{5F2A56AB-84AE-46E7-8FD1-1079D5B7DEA0}" type="presOf" srcId="{5B1AE51B-FFF1-462D-BFE8-86E7B885EE61}" destId="{AAC8D42E-C9AE-406C-8C1E-4ABFA97EE8D4}" srcOrd="1" destOrd="0" presId="urn:microsoft.com/office/officeart/2005/8/layout/hierarchy3"/>
    <dgm:cxn modelId="{7DAE06BB-40D6-494B-9F08-24363E65DCE5}" type="presOf" srcId="{1F581513-5322-4F85-AD7F-743FB46B5268}" destId="{D3FDD98D-6E88-42A0-AC9D-EBBF07AA229F}" srcOrd="0" destOrd="0" presId="urn:microsoft.com/office/officeart/2005/8/layout/hierarchy3"/>
    <dgm:cxn modelId="{09F4F3C0-65C8-4A00-AB26-329BACBB3478}" type="presOf" srcId="{98DAB4DB-D916-47A7-B9AC-2AEF9E2EB5B5}" destId="{8C66CC7F-BE18-4B00-94F7-B041F1C4D624}" srcOrd="0" destOrd="0" presId="urn:microsoft.com/office/officeart/2005/8/layout/hierarchy3"/>
    <dgm:cxn modelId="{E318B7C9-B20F-4880-A1CE-2F4FC71604A3}" type="presOf" srcId="{CDAF6296-405C-46F9-94E7-532493241C10}" destId="{B7859BD4-454A-43D3-8798-23E8E074EA6B}" srcOrd="0" destOrd="0" presId="urn:microsoft.com/office/officeart/2005/8/layout/hierarchy3"/>
    <dgm:cxn modelId="{69ECACD4-9D0F-47FC-8FDF-A799FFB771E9}" type="presOf" srcId="{2872612C-ACBD-40CA-8E23-E2D2AEF51AFE}" destId="{F960C26E-503C-4997-8DE1-D489BD2846C6}" srcOrd="0" destOrd="0" presId="urn:microsoft.com/office/officeart/2005/8/layout/hierarchy3"/>
    <dgm:cxn modelId="{FD1D38DF-F33F-4F44-BC2E-6EC0B0248EC5}" srcId="{2872612C-ACBD-40CA-8E23-E2D2AEF51AFE}" destId="{0FA4412D-19D8-4BC4-AA95-04AA56A34212}" srcOrd="0" destOrd="0" parTransId="{98DAB4DB-D916-47A7-B9AC-2AEF9E2EB5B5}" sibTransId="{9128E63D-5A2B-48D5-8DC7-663DC20BA341}"/>
    <dgm:cxn modelId="{29E97AEC-254C-4D71-8E59-BF91D49C7A14}" type="presOf" srcId="{D3F647AC-9F24-4F61-9BB3-3EC6C4904943}" destId="{A32C94E5-6D74-4828-A799-FA883C13C63C}" srcOrd="0" destOrd="0" presId="urn:microsoft.com/office/officeart/2005/8/layout/hierarchy3"/>
    <dgm:cxn modelId="{B940F1FE-0FA7-4DBF-A77A-CF8D91DF1A9A}" type="presOf" srcId="{2872612C-ACBD-40CA-8E23-E2D2AEF51AFE}" destId="{E5A2E4D5-10E9-4CC3-B40B-E298A4DB4C7F}" srcOrd="1" destOrd="0" presId="urn:microsoft.com/office/officeart/2005/8/layout/hierarchy3"/>
    <dgm:cxn modelId="{32B7775B-71B8-4918-812E-6C8FB47C8D61}" type="presParOf" srcId="{CD76A416-1740-4E19-A7DF-76C913325038}" destId="{B5047999-4E89-49D1-B056-21BB2D098E73}" srcOrd="0" destOrd="0" presId="urn:microsoft.com/office/officeart/2005/8/layout/hierarchy3"/>
    <dgm:cxn modelId="{911A9056-1125-443D-AEAE-CCF45E7A80D3}" type="presParOf" srcId="{B5047999-4E89-49D1-B056-21BB2D098E73}" destId="{A913AF81-5816-419D-ADF7-DE369A1B9DC7}" srcOrd="0" destOrd="0" presId="urn:microsoft.com/office/officeart/2005/8/layout/hierarchy3"/>
    <dgm:cxn modelId="{76A6B8B4-AB9A-42F6-835D-C3F7B0456D12}" type="presParOf" srcId="{A913AF81-5816-419D-ADF7-DE369A1B9DC7}" destId="{23AB3CE9-1567-4B50-997B-FDBBB7F4F497}" srcOrd="0" destOrd="0" presId="urn:microsoft.com/office/officeart/2005/8/layout/hierarchy3"/>
    <dgm:cxn modelId="{02F2FA2C-7982-46C5-A662-DDB7F01B2439}" type="presParOf" srcId="{A913AF81-5816-419D-ADF7-DE369A1B9DC7}" destId="{AAC8D42E-C9AE-406C-8C1E-4ABFA97EE8D4}" srcOrd="1" destOrd="0" presId="urn:microsoft.com/office/officeart/2005/8/layout/hierarchy3"/>
    <dgm:cxn modelId="{2E6BA98C-D761-423C-88A8-2AE69FC6193B}" type="presParOf" srcId="{B5047999-4E89-49D1-B056-21BB2D098E73}" destId="{654EAE30-A1E7-4064-BE16-E024949D65CD}" srcOrd="1" destOrd="0" presId="urn:microsoft.com/office/officeart/2005/8/layout/hierarchy3"/>
    <dgm:cxn modelId="{AD1C3912-2A06-4966-9787-F63978BF1B90}" type="presParOf" srcId="{654EAE30-A1E7-4064-BE16-E024949D65CD}" destId="{A32C94E5-6D74-4828-A799-FA883C13C63C}" srcOrd="0" destOrd="0" presId="urn:microsoft.com/office/officeart/2005/8/layout/hierarchy3"/>
    <dgm:cxn modelId="{80327CBE-5A26-467C-B101-9FD305232329}" type="presParOf" srcId="{654EAE30-A1E7-4064-BE16-E024949D65CD}" destId="{B7859BD4-454A-43D3-8798-23E8E074EA6B}" srcOrd="1" destOrd="0" presId="urn:microsoft.com/office/officeart/2005/8/layout/hierarchy3"/>
    <dgm:cxn modelId="{13F5C744-B78B-4061-B9B4-9BA126100C87}" type="presParOf" srcId="{654EAE30-A1E7-4064-BE16-E024949D65CD}" destId="{5F349E70-BF71-4D35-A370-3B4F1506C509}" srcOrd="2" destOrd="0" presId="urn:microsoft.com/office/officeart/2005/8/layout/hierarchy3"/>
    <dgm:cxn modelId="{B484DC66-F864-427E-AA0B-6DC3AE16D908}" type="presParOf" srcId="{654EAE30-A1E7-4064-BE16-E024949D65CD}" destId="{9EC11BF1-6E06-49DB-AC88-78AD97E26832}" srcOrd="3" destOrd="0" presId="urn:microsoft.com/office/officeart/2005/8/layout/hierarchy3"/>
    <dgm:cxn modelId="{F9A95917-01E7-49C6-804E-DD53BC42049A}" type="presParOf" srcId="{CD76A416-1740-4E19-A7DF-76C913325038}" destId="{24582425-FD31-4A12-8AF7-A156FC80652E}" srcOrd="1" destOrd="0" presId="urn:microsoft.com/office/officeart/2005/8/layout/hierarchy3"/>
    <dgm:cxn modelId="{E5A66716-06DC-4A55-A0D6-0EDF4A3A96C4}" type="presParOf" srcId="{24582425-FD31-4A12-8AF7-A156FC80652E}" destId="{1E50A730-7EB3-400B-A0E4-2CE10217611E}" srcOrd="0" destOrd="0" presId="urn:microsoft.com/office/officeart/2005/8/layout/hierarchy3"/>
    <dgm:cxn modelId="{EE8FCF9A-A316-48DE-A53A-983E7D3906EF}" type="presParOf" srcId="{1E50A730-7EB3-400B-A0E4-2CE10217611E}" destId="{F960C26E-503C-4997-8DE1-D489BD2846C6}" srcOrd="0" destOrd="0" presId="urn:microsoft.com/office/officeart/2005/8/layout/hierarchy3"/>
    <dgm:cxn modelId="{61BCEE89-89D1-4EF2-8B34-C28326CF43CD}" type="presParOf" srcId="{1E50A730-7EB3-400B-A0E4-2CE10217611E}" destId="{E5A2E4D5-10E9-4CC3-B40B-E298A4DB4C7F}" srcOrd="1" destOrd="0" presId="urn:microsoft.com/office/officeart/2005/8/layout/hierarchy3"/>
    <dgm:cxn modelId="{086D5614-EEAC-4767-B38B-AB20E8A405C3}" type="presParOf" srcId="{24582425-FD31-4A12-8AF7-A156FC80652E}" destId="{2B5CBAEA-21CB-488A-8167-BB6A4F814A53}" srcOrd="1" destOrd="0" presId="urn:microsoft.com/office/officeart/2005/8/layout/hierarchy3"/>
    <dgm:cxn modelId="{F53F4451-44CB-4FA7-8F18-4D0426A8D487}" type="presParOf" srcId="{2B5CBAEA-21CB-488A-8167-BB6A4F814A53}" destId="{8C66CC7F-BE18-4B00-94F7-B041F1C4D624}" srcOrd="0" destOrd="0" presId="urn:microsoft.com/office/officeart/2005/8/layout/hierarchy3"/>
    <dgm:cxn modelId="{213B4603-3D4C-4D90-B8D0-10B1CD7BEAAA}" type="presParOf" srcId="{2B5CBAEA-21CB-488A-8167-BB6A4F814A53}" destId="{DA840424-BA2F-488F-B548-5540975023D2}" srcOrd="1" destOrd="0" presId="urn:microsoft.com/office/officeart/2005/8/layout/hierarchy3"/>
    <dgm:cxn modelId="{57FBBE32-167C-44CC-9668-F1D80ED43ADF}" type="presParOf" srcId="{2B5CBAEA-21CB-488A-8167-BB6A4F814A53}" destId="{0ED449DC-8FD6-45AA-AB56-57A4765AD2A9}" srcOrd="2" destOrd="0" presId="urn:microsoft.com/office/officeart/2005/8/layout/hierarchy3"/>
    <dgm:cxn modelId="{ECA0C1E0-AF6E-4B0B-A141-030DA1B4D744}" type="presParOf" srcId="{2B5CBAEA-21CB-488A-8167-BB6A4F814A53}" destId="{D3FDD98D-6E88-42A0-AC9D-EBBF07AA229F}"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B3CE9-1567-4B50-997B-FDBBB7F4F497}">
      <dsp:nvSpPr>
        <dsp:cNvPr id="0" name=""/>
        <dsp:cNvSpPr/>
      </dsp:nvSpPr>
      <dsp:spPr>
        <a:xfrm>
          <a:off x="1618957" y="1178"/>
          <a:ext cx="3345956" cy="124256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GB" sz="2300" kern="1200" dirty="0"/>
            <a:t>Qualitative/Categorial Data</a:t>
          </a:r>
        </a:p>
      </dsp:txBody>
      <dsp:txXfrm>
        <a:off x="1655351" y="37572"/>
        <a:ext cx="3273168" cy="1169778"/>
      </dsp:txXfrm>
    </dsp:sp>
    <dsp:sp modelId="{A32C94E5-6D74-4828-A799-FA883C13C63C}">
      <dsp:nvSpPr>
        <dsp:cNvPr id="0" name=""/>
        <dsp:cNvSpPr/>
      </dsp:nvSpPr>
      <dsp:spPr>
        <a:xfrm>
          <a:off x="1953553" y="1243744"/>
          <a:ext cx="334595" cy="931924"/>
        </a:xfrm>
        <a:custGeom>
          <a:avLst/>
          <a:gdLst/>
          <a:ahLst/>
          <a:cxnLst/>
          <a:rect l="0" t="0" r="0" b="0"/>
          <a:pathLst>
            <a:path>
              <a:moveTo>
                <a:pt x="0" y="0"/>
              </a:moveTo>
              <a:lnTo>
                <a:pt x="0" y="931924"/>
              </a:lnTo>
              <a:lnTo>
                <a:pt x="334595" y="93192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859BD4-454A-43D3-8798-23E8E074EA6B}">
      <dsp:nvSpPr>
        <dsp:cNvPr id="0" name=""/>
        <dsp:cNvSpPr/>
      </dsp:nvSpPr>
      <dsp:spPr>
        <a:xfrm>
          <a:off x="2288149" y="1554385"/>
          <a:ext cx="1988105" cy="1242566"/>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Nominal Data</a:t>
          </a:r>
        </a:p>
      </dsp:txBody>
      <dsp:txXfrm>
        <a:off x="2324543" y="1590779"/>
        <a:ext cx="1915317" cy="1169778"/>
      </dsp:txXfrm>
    </dsp:sp>
    <dsp:sp modelId="{5F349E70-BF71-4D35-A370-3B4F1506C509}">
      <dsp:nvSpPr>
        <dsp:cNvPr id="0" name=""/>
        <dsp:cNvSpPr/>
      </dsp:nvSpPr>
      <dsp:spPr>
        <a:xfrm>
          <a:off x="1953553" y="1243744"/>
          <a:ext cx="334595" cy="2485132"/>
        </a:xfrm>
        <a:custGeom>
          <a:avLst/>
          <a:gdLst/>
          <a:ahLst/>
          <a:cxnLst/>
          <a:rect l="0" t="0" r="0" b="0"/>
          <a:pathLst>
            <a:path>
              <a:moveTo>
                <a:pt x="0" y="0"/>
              </a:moveTo>
              <a:lnTo>
                <a:pt x="0" y="2485132"/>
              </a:lnTo>
              <a:lnTo>
                <a:pt x="334595" y="24851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C11BF1-6E06-49DB-AC88-78AD97E26832}">
      <dsp:nvSpPr>
        <dsp:cNvPr id="0" name=""/>
        <dsp:cNvSpPr/>
      </dsp:nvSpPr>
      <dsp:spPr>
        <a:xfrm>
          <a:off x="2288149" y="3107593"/>
          <a:ext cx="1988105" cy="1242566"/>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Ordinal Data</a:t>
          </a:r>
        </a:p>
      </dsp:txBody>
      <dsp:txXfrm>
        <a:off x="2324543" y="3143987"/>
        <a:ext cx="1915317" cy="1169778"/>
      </dsp:txXfrm>
    </dsp:sp>
    <dsp:sp modelId="{F960C26E-503C-4997-8DE1-D489BD2846C6}">
      <dsp:nvSpPr>
        <dsp:cNvPr id="0" name=""/>
        <dsp:cNvSpPr/>
      </dsp:nvSpPr>
      <dsp:spPr>
        <a:xfrm>
          <a:off x="5586197" y="1178"/>
          <a:ext cx="3310444" cy="124256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GB" sz="2300" kern="1200" dirty="0"/>
            <a:t>Quantitative/Numerical Data</a:t>
          </a:r>
        </a:p>
      </dsp:txBody>
      <dsp:txXfrm>
        <a:off x="5622591" y="37572"/>
        <a:ext cx="3237656" cy="1169778"/>
      </dsp:txXfrm>
    </dsp:sp>
    <dsp:sp modelId="{8C66CC7F-BE18-4B00-94F7-B041F1C4D624}">
      <dsp:nvSpPr>
        <dsp:cNvPr id="0" name=""/>
        <dsp:cNvSpPr/>
      </dsp:nvSpPr>
      <dsp:spPr>
        <a:xfrm>
          <a:off x="5917242" y="1243744"/>
          <a:ext cx="331044" cy="931924"/>
        </a:xfrm>
        <a:custGeom>
          <a:avLst/>
          <a:gdLst/>
          <a:ahLst/>
          <a:cxnLst/>
          <a:rect l="0" t="0" r="0" b="0"/>
          <a:pathLst>
            <a:path>
              <a:moveTo>
                <a:pt x="0" y="0"/>
              </a:moveTo>
              <a:lnTo>
                <a:pt x="0" y="931924"/>
              </a:lnTo>
              <a:lnTo>
                <a:pt x="331044" y="93192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840424-BA2F-488F-B548-5540975023D2}">
      <dsp:nvSpPr>
        <dsp:cNvPr id="0" name=""/>
        <dsp:cNvSpPr/>
      </dsp:nvSpPr>
      <dsp:spPr>
        <a:xfrm>
          <a:off x="6248286" y="1554385"/>
          <a:ext cx="1988105" cy="1242566"/>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Discrete Data</a:t>
          </a:r>
        </a:p>
      </dsp:txBody>
      <dsp:txXfrm>
        <a:off x="6284680" y="1590779"/>
        <a:ext cx="1915317" cy="1169778"/>
      </dsp:txXfrm>
    </dsp:sp>
    <dsp:sp modelId="{0ED449DC-8FD6-45AA-AB56-57A4765AD2A9}">
      <dsp:nvSpPr>
        <dsp:cNvPr id="0" name=""/>
        <dsp:cNvSpPr/>
      </dsp:nvSpPr>
      <dsp:spPr>
        <a:xfrm>
          <a:off x="5917242" y="1243744"/>
          <a:ext cx="331044" cy="2485132"/>
        </a:xfrm>
        <a:custGeom>
          <a:avLst/>
          <a:gdLst/>
          <a:ahLst/>
          <a:cxnLst/>
          <a:rect l="0" t="0" r="0" b="0"/>
          <a:pathLst>
            <a:path>
              <a:moveTo>
                <a:pt x="0" y="0"/>
              </a:moveTo>
              <a:lnTo>
                <a:pt x="0" y="2485132"/>
              </a:lnTo>
              <a:lnTo>
                <a:pt x="331044" y="24851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DD98D-6E88-42A0-AC9D-EBBF07AA229F}">
      <dsp:nvSpPr>
        <dsp:cNvPr id="0" name=""/>
        <dsp:cNvSpPr/>
      </dsp:nvSpPr>
      <dsp:spPr>
        <a:xfrm>
          <a:off x="6248286" y="3107593"/>
          <a:ext cx="1988105" cy="1242566"/>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GB" sz="2800" kern="1200" dirty="0"/>
            <a:t>Continuous Data</a:t>
          </a:r>
        </a:p>
      </dsp:txBody>
      <dsp:txXfrm>
        <a:off x="6284680" y="3143987"/>
        <a:ext cx="1915317" cy="116977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E01A47-9CDC-44D5-B755-AB9B9BDB12DF}" type="datetimeFigureOut">
              <a:rPr lang="en-GB" smtClean="0"/>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012602-93F6-4CCC-A9E8-CCCD7DECCA09}" type="slidenum">
              <a:rPr lang="en-GB" smtClean="0"/>
              <a:t>‹#›</a:t>
            </a:fld>
            <a:endParaRPr lang="en-GB"/>
          </a:p>
        </p:txBody>
      </p:sp>
    </p:spTree>
    <p:extLst>
      <p:ext uri="{BB962C8B-B14F-4D97-AF65-F5344CB8AC3E}">
        <p14:creationId xmlns:p14="http://schemas.microsoft.com/office/powerpoint/2010/main" val="701557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E012602-93F6-4CCC-A9E8-CCCD7DECCA09}" type="slidenum">
              <a:rPr lang="en-GB" smtClean="0"/>
              <a:t>7</a:t>
            </a:fld>
            <a:endParaRPr lang="en-GB"/>
          </a:p>
        </p:txBody>
      </p:sp>
    </p:spTree>
    <p:extLst>
      <p:ext uri="{BB962C8B-B14F-4D97-AF65-F5344CB8AC3E}">
        <p14:creationId xmlns:p14="http://schemas.microsoft.com/office/powerpoint/2010/main" val="2588085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4117594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2979155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10149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ED27C5-C8E7-47ED-AC0C-76DDA779947E}"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2785511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ED27C5-C8E7-47ED-AC0C-76DDA779947E}" type="datetimeFigureOut">
              <a:rPr lang="en-GB" smtClean="0"/>
              <a:t>12/01/2026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3303433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ED27C5-C8E7-47ED-AC0C-76DDA779947E}" type="datetimeFigureOut">
              <a:rPr lang="en-GB" smtClean="0"/>
              <a:t>12/01/2026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257431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ED27C5-C8E7-47ED-AC0C-76DDA779947E}" type="datetimeFigureOut">
              <a:rPr lang="en-GB" smtClean="0"/>
              <a:t>12/01/2026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101758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ED27C5-C8E7-47ED-AC0C-76DDA779947E}"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874936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ED27C5-C8E7-47ED-AC0C-76DDA779947E}" type="datetimeFigureOut">
              <a:rPr lang="en-GB" smtClean="0"/>
              <a:t>12/01/2026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2953306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3722159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73604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2035188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6815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1422935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189139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ED27C5-C8E7-47ED-AC0C-76DDA779947E}" type="datetimeFigureOut">
              <a:rPr lang="en-GB" smtClean="0"/>
              <a:t>12/01/2026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42F729-9E0D-4FC0-A4A5-961C0D241B46}" type="slidenum">
              <a:rPr lang="en-GB" smtClean="0"/>
              <a:t>‹#›</a:t>
            </a:fld>
            <a:endParaRPr lang="en-GB"/>
          </a:p>
        </p:txBody>
      </p:sp>
    </p:spTree>
    <p:extLst>
      <p:ext uri="{BB962C8B-B14F-4D97-AF65-F5344CB8AC3E}">
        <p14:creationId xmlns:p14="http://schemas.microsoft.com/office/powerpoint/2010/main" val="233794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5ED27C5-C8E7-47ED-AC0C-76DDA779947E}" type="datetimeFigureOut">
              <a:rPr lang="en-GB" smtClean="0"/>
              <a:t>12/01/2026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B42F729-9E0D-4FC0-A4A5-961C0D241B46}" type="slidenum">
              <a:rPr lang="en-GB" smtClean="0"/>
              <a:t>‹#›</a:t>
            </a:fld>
            <a:endParaRPr lang="en-GB"/>
          </a:p>
        </p:txBody>
      </p:sp>
    </p:spTree>
    <p:extLst>
      <p:ext uri="{BB962C8B-B14F-4D97-AF65-F5344CB8AC3E}">
        <p14:creationId xmlns:p14="http://schemas.microsoft.com/office/powerpoint/2010/main" val="209660868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FA27-0F0F-F3C5-6120-00A15A45CAA0}"/>
              </a:ext>
            </a:extLst>
          </p:cNvPr>
          <p:cNvSpPr>
            <a:spLocks noGrp="1"/>
          </p:cNvSpPr>
          <p:nvPr>
            <p:ph type="ctrTitle"/>
          </p:nvPr>
        </p:nvSpPr>
        <p:spPr>
          <a:xfrm>
            <a:off x="1524000" y="1122362"/>
            <a:ext cx="9144000" cy="3252689"/>
          </a:xfrm>
        </p:spPr>
        <p:txBody>
          <a:bodyPr>
            <a:normAutofit/>
          </a:bodyPr>
          <a:lstStyle/>
          <a:p>
            <a:r>
              <a:rPr lang="en-GB" sz="11500" b="1" dirty="0"/>
              <a:t>STATISTICS</a:t>
            </a:r>
          </a:p>
        </p:txBody>
      </p:sp>
    </p:spTree>
    <p:extLst>
      <p:ext uri="{BB962C8B-B14F-4D97-AF65-F5344CB8AC3E}">
        <p14:creationId xmlns:p14="http://schemas.microsoft.com/office/powerpoint/2010/main" val="843405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8607F-5A92-F6EC-7903-BA565E2E9A54}"/>
              </a:ext>
            </a:extLst>
          </p:cNvPr>
          <p:cNvSpPr>
            <a:spLocks noGrp="1"/>
          </p:cNvSpPr>
          <p:nvPr>
            <p:ph type="ctrTitle"/>
          </p:nvPr>
        </p:nvSpPr>
        <p:spPr>
          <a:xfrm>
            <a:off x="1280160" y="496595"/>
            <a:ext cx="8951742" cy="1029994"/>
          </a:xfrm>
        </p:spPr>
        <p:txBody>
          <a:bodyPr>
            <a:normAutofit/>
          </a:bodyPr>
          <a:lstStyle/>
          <a:p>
            <a:pPr algn="l"/>
            <a:r>
              <a:rPr lang="en-GB" sz="5400" b="1" dirty="0"/>
              <a:t>STATISTICS</a:t>
            </a:r>
          </a:p>
        </p:txBody>
      </p:sp>
      <p:sp>
        <p:nvSpPr>
          <p:cNvPr id="3" name="Subtitle 2">
            <a:extLst>
              <a:ext uri="{FF2B5EF4-FFF2-40B4-BE49-F238E27FC236}">
                <a16:creationId xmlns:a16="http://schemas.microsoft.com/office/drawing/2014/main" id="{D4B435A2-209C-FC63-C0DB-BEFE6C351EDF}"/>
              </a:ext>
            </a:extLst>
          </p:cNvPr>
          <p:cNvSpPr>
            <a:spLocks noGrp="1"/>
          </p:cNvSpPr>
          <p:nvPr>
            <p:ph type="subTitle" idx="1"/>
          </p:nvPr>
        </p:nvSpPr>
        <p:spPr>
          <a:xfrm>
            <a:off x="1280160" y="2025748"/>
            <a:ext cx="9387840" cy="3232052"/>
          </a:xfrm>
        </p:spPr>
        <p:txBody>
          <a:bodyPr>
            <a:normAutofit/>
          </a:bodyPr>
          <a:lstStyle/>
          <a:p>
            <a:pPr algn="l"/>
            <a:r>
              <a:rPr lang="en-GB" dirty="0">
                <a:solidFill>
                  <a:schemeClr val="tx1"/>
                </a:solidFill>
              </a:rPr>
              <a:t>Statistics is the branch of mathematics that involves collecting, analysing, interpreting and presenting the data. It provides tools and methods to understand and make sense of large amount of data and draw conclusion and make decision based on the data.</a:t>
            </a:r>
          </a:p>
          <a:p>
            <a:endParaRPr lang="en-GB" dirty="0">
              <a:solidFill>
                <a:schemeClr val="tx1"/>
              </a:solidFill>
            </a:endParaRPr>
          </a:p>
          <a:p>
            <a:pPr algn="l"/>
            <a:r>
              <a:rPr lang="en-GB" dirty="0">
                <a:solidFill>
                  <a:schemeClr val="tx1"/>
                </a:solidFill>
              </a:rPr>
              <a:t>For Example,</a:t>
            </a:r>
          </a:p>
          <a:p>
            <a:pPr marL="342900" indent="-342900" algn="l">
              <a:buFont typeface="Arial" panose="020B0604020202020204" pitchFamily="34" charset="0"/>
              <a:buChar char="•"/>
            </a:pPr>
            <a:r>
              <a:rPr lang="en-GB" dirty="0">
                <a:solidFill>
                  <a:schemeClr val="tx1"/>
                </a:solidFill>
              </a:rPr>
              <a:t>Daily Life</a:t>
            </a:r>
          </a:p>
          <a:p>
            <a:pPr marL="342900" indent="-342900" algn="l">
              <a:buFont typeface="Arial" panose="020B0604020202020204" pitchFamily="34" charset="0"/>
              <a:buChar char="•"/>
            </a:pPr>
            <a:r>
              <a:rPr lang="en-GB" dirty="0">
                <a:solidFill>
                  <a:schemeClr val="tx1"/>
                </a:solidFill>
              </a:rPr>
              <a:t>Business</a:t>
            </a:r>
          </a:p>
          <a:p>
            <a:endParaRPr lang="en-GB" dirty="0"/>
          </a:p>
        </p:txBody>
      </p:sp>
      <p:pic>
        <p:nvPicPr>
          <p:cNvPr id="7" name="Picture 6">
            <a:extLst>
              <a:ext uri="{FF2B5EF4-FFF2-40B4-BE49-F238E27FC236}">
                <a16:creationId xmlns:a16="http://schemas.microsoft.com/office/drawing/2014/main" id="{7462C849-F9CA-2113-C330-2AD55E4841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4030" y="3429000"/>
            <a:ext cx="5794131" cy="32157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975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36E55-2A4F-3A5A-BF4A-E1602AF1FFB8}"/>
              </a:ext>
            </a:extLst>
          </p:cNvPr>
          <p:cNvSpPr>
            <a:spLocks noGrp="1"/>
          </p:cNvSpPr>
          <p:nvPr>
            <p:ph type="title"/>
          </p:nvPr>
        </p:nvSpPr>
        <p:spPr>
          <a:xfrm>
            <a:off x="838200" y="365126"/>
            <a:ext cx="10515600" cy="774358"/>
          </a:xfrm>
        </p:spPr>
        <p:txBody>
          <a:bodyPr>
            <a:normAutofit fontScale="90000"/>
          </a:bodyPr>
          <a:lstStyle/>
          <a:p>
            <a:r>
              <a:rPr lang="en-GB" sz="4800" b="1" dirty="0"/>
              <a:t>Why Statistics is Important?</a:t>
            </a:r>
          </a:p>
        </p:txBody>
      </p:sp>
      <p:sp>
        <p:nvSpPr>
          <p:cNvPr id="3" name="Content Placeholder 2">
            <a:extLst>
              <a:ext uri="{FF2B5EF4-FFF2-40B4-BE49-F238E27FC236}">
                <a16:creationId xmlns:a16="http://schemas.microsoft.com/office/drawing/2014/main" id="{27331B5F-6892-04A4-75CD-8F1F08AEAC8F}"/>
              </a:ext>
            </a:extLst>
          </p:cNvPr>
          <p:cNvSpPr>
            <a:spLocks noGrp="1"/>
          </p:cNvSpPr>
          <p:nvPr>
            <p:ph idx="1"/>
          </p:nvPr>
        </p:nvSpPr>
        <p:spPr>
          <a:xfrm>
            <a:off x="838200" y="1519311"/>
            <a:ext cx="10515600" cy="4657652"/>
          </a:xfrm>
        </p:spPr>
        <p:txBody>
          <a:bodyPr>
            <a:normAutofit/>
          </a:bodyPr>
          <a:lstStyle/>
          <a:p>
            <a:pPr>
              <a:buFont typeface="Wingdings" panose="05000000000000000000" pitchFamily="2" charset="2"/>
              <a:buChar char="v"/>
            </a:pPr>
            <a:r>
              <a:rPr lang="en-GB" dirty="0">
                <a:solidFill>
                  <a:schemeClr val="tx1"/>
                </a:solidFill>
              </a:rPr>
              <a:t> Informed Decision Making</a:t>
            </a:r>
          </a:p>
          <a:p>
            <a:pPr>
              <a:buFont typeface="Wingdings" panose="05000000000000000000" pitchFamily="2" charset="2"/>
              <a:buChar char="v"/>
            </a:pPr>
            <a:r>
              <a:rPr lang="en-GB" dirty="0">
                <a:solidFill>
                  <a:schemeClr val="tx1"/>
                </a:solidFill>
              </a:rPr>
              <a:t> Data Interpretation</a:t>
            </a:r>
          </a:p>
          <a:p>
            <a:pPr>
              <a:buFont typeface="Wingdings" panose="05000000000000000000" pitchFamily="2" charset="2"/>
              <a:buChar char="v"/>
            </a:pPr>
            <a:r>
              <a:rPr lang="en-GB" dirty="0">
                <a:solidFill>
                  <a:schemeClr val="tx1"/>
                </a:solidFill>
              </a:rPr>
              <a:t> Problem Solving</a:t>
            </a:r>
          </a:p>
          <a:p>
            <a:pPr>
              <a:buFont typeface="Wingdings" panose="05000000000000000000" pitchFamily="2" charset="2"/>
              <a:buChar char="v"/>
            </a:pPr>
            <a:r>
              <a:rPr lang="en-GB" dirty="0">
                <a:solidFill>
                  <a:schemeClr val="tx1"/>
                </a:solidFill>
              </a:rPr>
              <a:t> Predictive Analysis</a:t>
            </a:r>
          </a:p>
          <a:p>
            <a:pPr>
              <a:buFont typeface="Wingdings" panose="05000000000000000000" pitchFamily="2" charset="2"/>
              <a:buChar char="v"/>
            </a:pPr>
            <a:r>
              <a:rPr lang="en-GB" dirty="0">
                <a:solidFill>
                  <a:schemeClr val="tx1"/>
                </a:solidFill>
              </a:rPr>
              <a:t> Quality Control</a:t>
            </a:r>
          </a:p>
          <a:p>
            <a:pPr>
              <a:buFont typeface="Wingdings" panose="05000000000000000000" pitchFamily="2" charset="2"/>
              <a:buChar char="v"/>
            </a:pPr>
            <a:r>
              <a:rPr lang="en-GB" dirty="0">
                <a:solidFill>
                  <a:schemeClr val="tx1"/>
                </a:solidFill>
              </a:rPr>
              <a:t> Research and Innovation</a:t>
            </a:r>
          </a:p>
          <a:p>
            <a:pPr>
              <a:buFont typeface="Wingdings" panose="05000000000000000000" pitchFamily="2" charset="2"/>
              <a:buChar char="v"/>
            </a:pPr>
            <a:r>
              <a:rPr lang="en-GB" dirty="0">
                <a:solidFill>
                  <a:schemeClr val="tx1"/>
                </a:solidFill>
              </a:rPr>
              <a:t> Resource Optimization</a:t>
            </a:r>
          </a:p>
          <a:p>
            <a:pPr>
              <a:buFont typeface="Wingdings" panose="05000000000000000000" pitchFamily="2" charset="2"/>
              <a:buChar char="v"/>
            </a:pPr>
            <a:r>
              <a:rPr lang="en-GB" dirty="0">
                <a:solidFill>
                  <a:schemeClr val="tx1"/>
                </a:solidFill>
              </a:rPr>
              <a:t> Risk Assessment</a:t>
            </a:r>
          </a:p>
          <a:p>
            <a:pPr>
              <a:buFont typeface="Wingdings" panose="05000000000000000000" pitchFamily="2" charset="2"/>
              <a:buChar char="v"/>
            </a:pPr>
            <a:r>
              <a:rPr lang="en-GB" dirty="0">
                <a:solidFill>
                  <a:schemeClr val="tx1"/>
                </a:solidFill>
              </a:rPr>
              <a:t> Social &amp; Economic Understanding</a:t>
            </a:r>
          </a:p>
          <a:p>
            <a:pPr>
              <a:buFont typeface="Wingdings" panose="05000000000000000000" pitchFamily="2" charset="2"/>
              <a:buChar char="v"/>
            </a:pPr>
            <a:r>
              <a:rPr lang="en-GB" dirty="0">
                <a:solidFill>
                  <a:schemeClr val="tx1"/>
                </a:solidFill>
              </a:rPr>
              <a:t> Career Opportunities</a:t>
            </a:r>
          </a:p>
        </p:txBody>
      </p:sp>
    </p:spTree>
    <p:extLst>
      <p:ext uri="{BB962C8B-B14F-4D97-AF65-F5344CB8AC3E}">
        <p14:creationId xmlns:p14="http://schemas.microsoft.com/office/powerpoint/2010/main" val="1570233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96F7-D354-D984-901E-21D9EA0797E9}"/>
              </a:ext>
            </a:extLst>
          </p:cNvPr>
          <p:cNvSpPr>
            <a:spLocks noGrp="1"/>
          </p:cNvSpPr>
          <p:nvPr>
            <p:ph type="title"/>
          </p:nvPr>
        </p:nvSpPr>
        <p:spPr/>
        <p:txBody>
          <a:bodyPr>
            <a:normAutofit/>
          </a:bodyPr>
          <a:lstStyle/>
          <a:p>
            <a:r>
              <a:rPr lang="en-GB" sz="5400" b="1" dirty="0"/>
              <a:t>Type of Statistics</a:t>
            </a:r>
          </a:p>
        </p:txBody>
      </p:sp>
      <p:sp>
        <p:nvSpPr>
          <p:cNvPr id="3" name="Content Placeholder 2">
            <a:extLst>
              <a:ext uri="{FF2B5EF4-FFF2-40B4-BE49-F238E27FC236}">
                <a16:creationId xmlns:a16="http://schemas.microsoft.com/office/drawing/2014/main" id="{127967AA-ED8D-0175-E5E4-7AB316FE13B6}"/>
              </a:ext>
            </a:extLst>
          </p:cNvPr>
          <p:cNvSpPr>
            <a:spLocks noGrp="1"/>
          </p:cNvSpPr>
          <p:nvPr>
            <p:ph idx="1"/>
          </p:nvPr>
        </p:nvSpPr>
        <p:spPr>
          <a:xfrm>
            <a:off x="838200" y="1825625"/>
            <a:ext cx="10515600" cy="4814326"/>
          </a:xfrm>
        </p:spPr>
        <p:txBody>
          <a:bodyPr>
            <a:normAutofit/>
          </a:bodyPr>
          <a:lstStyle/>
          <a:p>
            <a:pPr>
              <a:buFont typeface="Wingdings" panose="05000000000000000000" pitchFamily="2" charset="2"/>
              <a:buChar char="§"/>
            </a:pPr>
            <a:r>
              <a:rPr lang="en-GB" sz="2000" dirty="0">
                <a:solidFill>
                  <a:schemeClr val="tx1"/>
                </a:solidFill>
              </a:rPr>
              <a:t>Descriptive Statistics</a:t>
            </a:r>
          </a:p>
          <a:p>
            <a:pPr>
              <a:buFont typeface="Wingdings" panose="05000000000000000000" pitchFamily="2" charset="2"/>
              <a:buChar char="§"/>
            </a:pPr>
            <a:r>
              <a:rPr lang="en-GB" sz="2000" dirty="0">
                <a:solidFill>
                  <a:schemeClr val="tx1"/>
                </a:solidFill>
              </a:rPr>
              <a:t>Inferential Statistics</a:t>
            </a:r>
          </a:p>
          <a:p>
            <a:pPr>
              <a:buFont typeface="Wingdings" panose="05000000000000000000" pitchFamily="2" charset="2"/>
              <a:buChar char="§"/>
            </a:pPr>
            <a:endParaRPr lang="en-GB" dirty="0">
              <a:solidFill>
                <a:schemeClr val="tx1"/>
              </a:solidFill>
            </a:endParaRPr>
          </a:p>
          <a:p>
            <a:pPr>
              <a:buFont typeface="Wingdings" panose="05000000000000000000" pitchFamily="2" charset="2"/>
              <a:buChar char="v"/>
            </a:pPr>
            <a:r>
              <a:rPr lang="en-GB" dirty="0">
                <a:solidFill>
                  <a:schemeClr val="tx1"/>
                </a:solidFill>
              </a:rPr>
              <a:t> </a:t>
            </a:r>
            <a:r>
              <a:rPr lang="en-GB" sz="2000" b="1" dirty="0">
                <a:solidFill>
                  <a:schemeClr val="tx1"/>
                </a:solidFill>
              </a:rPr>
              <a:t>Descriptive Statistics </a:t>
            </a:r>
            <a:r>
              <a:rPr lang="en-GB" dirty="0">
                <a:solidFill>
                  <a:schemeClr val="tx1"/>
                </a:solidFill>
              </a:rPr>
              <a:t>-</a:t>
            </a:r>
          </a:p>
          <a:p>
            <a:pPr marL="0" indent="0">
              <a:buNone/>
            </a:pPr>
            <a:r>
              <a:rPr lang="en-GB" dirty="0">
                <a:solidFill>
                  <a:schemeClr val="tx1"/>
                </a:solidFill>
              </a:rPr>
              <a:t>               Descriptive statistics is a methods of collect data, organize, analyse, interpreted and present the sample data.</a:t>
            </a:r>
          </a:p>
          <a:p>
            <a:pPr marL="0" indent="0">
              <a:buNone/>
            </a:pPr>
            <a:endParaRPr lang="en-GB" dirty="0">
              <a:solidFill>
                <a:schemeClr val="tx1"/>
              </a:solidFill>
            </a:endParaRPr>
          </a:p>
          <a:p>
            <a:pPr>
              <a:buFont typeface="Wingdings" panose="05000000000000000000" pitchFamily="2" charset="2"/>
              <a:buChar char="v"/>
            </a:pPr>
            <a:r>
              <a:rPr lang="en-GB" dirty="0">
                <a:solidFill>
                  <a:schemeClr val="tx1"/>
                </a:solidFill>
              </a:rPr>
              <a:t> </a:t>
            </a:r>
            <a:r>
              <a:rPr lang="en-GB" sz="2000" b="1" dirty="0">
                <a:solidFill>
                  <a:schemeClr val="tx1"/>
                </a:solidFill>
              </a:rPr>
              <a:t>Inferential Statistics </a:t>
            </a:r>
            <a:r>
              <a:rPr lang="en-GB" dirty="0">
                <a:solidFill>
                  <a:schemeClr val="tx1"/>
                </a:solidFill>
              </a:rPr>
              <a:t>-</a:t>
            </a:r>
          </a:p>
          <a:p>
            <a:pPr marL="0" indent="0">
              <a:buNone/>
            </a:pPr>
            <a:r>
              <a:rPr lang="en-GB" dirty="0">
                <a:solidFill>
                  <a:schemeClr val="tx1"/>
                </a:solidFill>
              </a:rPr>
              <a:t>                It deals with making a conclusion or prediction about the population data using the sample data.</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2662240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673-E4F7-0907-D5D0-31E125BEC3D8}"/>
              </a:ext>
            </a:extLst>
          </p:cNvPr>
          <p:cNvSpPr>
            <a:spLocks noGrp="1"/>
          </p:cNvSpPr>
          <p:nvPr>
            <p:ph type="title"/>
          </p:nvPr>
        </p:nvSpPr>
        <p:spPr>
          <a:xfrm>
            <a:off x="838200" y="576775"/>
            <a:ext cx="10515600" cy="748788"/>
          </a:xfrm>
        </p:spPr>
        <p:txBody>
          <a:bodyPr>
            <a:normAutofit fontScale="90000"/>
          </a:bodyPr>
          <a:lstStyle/>
          <a:p>
            <a:r>
              <a:rPr lang="en-GB" sz="4800" b="1" dirty="0"/>
              <a:t>Population</a:t>
            </a:r>
          </a:p>
        </p:txBody>
      </p:sp>
      <p:sp>
        <p:nvSpPr>
          <p:cNvPr id="3" name="Content Placeholder 2">
            <a:extLst>
              <a:ext uri="{FF2B5EF4-FFF2-40B4-BE49-F238E27FC236}">
                <a16:creationId xmlns:a16="http://schemas.microsoft.com/office/drawing/2014/main" id="{3CE674AF-55D4-FE18-4982-87FFF9C47431}"/>
              </a:ext>
            </a:extLst>
          </p:cNvPr>
          <p:cNvSpPr>
            <a:spLocks noGrp="1"/>
          </p:cNvSpPr>
          <p:nvPr>
            <p:ph idx="1"/>
          </p:nvPr>
        </p:nvSpPr>
        <p:spPr>
          <a:xfrm>
            <a:off x="838200" y="1448972"/>
            <a:ext cx="10515600" cy="4727991"/>
          </a:xfrm>
        </p:spPr>
        <p:txBody>
          <a:bodyPr/>
          <a:lstStyle/>
          <a:p>
            <a:pPr marL="0" indent="0">
              <a:buNone/>
            </a:pPr>
            <a:r>
              <a:rPr lang="en-GB" sz="2000" dirty="0">
                <a:solidFill>
                  <a:schemeClr val="tx1"/>
                </a:solidFill>
              </a:rPr>
              <a:t>A population is the entire group of individuals or the object.</a:t>
            </a:r>
          </a:p>
          <a:p>
            <a:pPr marL="0" indent="0">
              <a:buNone/>
            </a:pPr>
            <a:endParaRPr lang="en-GB" sz="2000" dirty="0">
              <a:solidFill>
                <a:schemeClr val="tx1"/>
              </a:solidFill>
            </a:endParaRPr>
          </a:p>
          <a:p>
            <a:pPr marL="0" indent="0">
              <a:buNone/>
            </a:pPr>
            <a:r>
              <a:rPr lang="en-GB" sz="4800" b="1" dirty="0">
                <a:solidFill>
                  <a:schemeClr val="accent1"/>
                </a:solidFill>
              </a:rPr>
              <a:t>Sample</a:t>
            </a:r>
          </a:p>
          <a:p>
            <a:pPr marL="0" indent="0">
              <a:buNone/>
            </a:pPr>
            <a:r>
              <a:rPr lang="en-GB" sz="2000" dirty="0">
                <a:solidFill>
                  <a:schemeClr val="tx1"/>
                </a:solidFill>
              </a:rPr>
              <a:t>A sample is a sub-group of population.</a:t>
            </a:r>
          </a:p>
          <a:p>
            <a:pPr marL="0" indent="0">
              <a:buNone/>
            </a:pPr>
            <a:endParaRPr lang="en-GB" dirty="0">
              <a:solidFill>
                <a:schemeClr val="tx1"/>
              </a:solidFill>
            </a:endParaRPr>
          </a:p>
          <a:p>
            <a:pPr marL="0" indent="0">
              <a:buNone/>
            </a:pPr>
            <a:r>
              <a:rPr lang="en-GB" sz="2400" dirty="0">
                <a:solidFill>
                  <a:schemeClr val="tx1"/>
                </a:solidFill>
              </a:rPr>
              <a:t>For example –</a:t>
            </a:r>
          </a:p>
          <a:p>
            <a:r>
              <a:rPr lang="en-GB" sz="2000" dirty="0">
                <a:solidFill>
                  <a:schemeClr val="tx1"/>
                </a:solidFill>
              </a:rPr>
              <a:t>Population :- Entire fans of Cricket in the world.</a:t>
            </a:r>
          </a:p>
          <a:p>
            <a:r>
              <a:rPr lang="en-GB" sz="2000" dirty="0">
                <a:solidFill>
                  <a:schemeClr val="tx1"/>
                </a:solidFill>
              </a:rPr>
              <a:t>Sample :- The fans available at stadium.</a:t>
            </a:r>
          </a:p>
          <a:p>
            <a:pPr marL="0" indent="0">
              <a:buNone/>
            </a:pPr>
            <a:endParaRPr lang="en-GB" dirty="0"/>
          </a:p>
        </p:txBody>
      </p:sp>
      <p:pic>
        <p:nvPicPr>
          <p:cNvPr id="5" name="Picture 4">
            <a:extLst>
              <a:ext uri="{FF2B5EF4-FFF2-40B4-BE49-F238E27FC236}">
                <a16:creationId xmlns:a16="http://schemas.microsoft.com/office/drawing/2014/main" id="{354D4261-8CBA-4405-A54A-DB3D83324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9358" y="3812967"/>
            <a:ext cx="4812642" cy="30181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46042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65BD4-650D-144B-13B1-45D0FC947CA0}"/>
              </a:ext>
            </a:extLst>
          </p:cNvPr>
          <p:cNvSpPr>
            <a:spLocks noGrp="1"/>
          </p:cNvSpPr>
          <p:nvPr>
            <p:ph type="title"/>
          </p:nvPr>
        </p:nvSpPr>
        <p:spPr>
          <a:xfrm>
            <a:off x="838200" y="365126"/>
            <a:ext cx="10515600" cy="605546"/>
          </a:xfrm>
        </p:spPr>
        <p:txBody>
          <a:bodyPr>
            <a:noAutofit/>
          </a:bodyPr>
          <a:lstStyle/>
          <a:p>
            <a:r>
              <a:rPr lang="en-GB" sz="4800" b="1" dirty="0"/>
              <a:t>Sampling Techniques</a:t>
            </a:r>
          </a:p>
        </p:txBody>
      </p:sp>
      <p:sp>
        <p:nvSpPr>
          <p:cNvPr id="3" name="Content Placeholder 2">
            <a:extLst>
              <a:ext uri="{FF2B5EF4-FFF2-40B4-BE49-F238E27FC236}">
                <a16:creationId xmlns:a16="http://schemas.microsoft.com/office/drawing/2014/main" id="{C1943494-A283-6D8A-F5EA-9C01373DE82C}"/>
              </a:ext>
            </a:extLst>
          </p:cNvPr>
          <p:cNvSpPr>
            <a:spLocks noGrp="1"/>
          </p:cNvSpPr>
          <p:nvPr>
            <p:ph idx="1"/>
          </p:nvPr>
        </p:nvSpPr>
        <p:spPr>
          <a:xfrm>
            <a:off x="838200" y="1566644"/>
            <a:ext cx="10515600" cy="4610319"/>
          </a:xfrm>
        </p:spPr>
        <p:txBody>
          <a:bodyPr>
            <a:normAutofit/>
          </a:bodyPr>
          <a:lstStyle/>
          <a:p>
            <a:pPr>
              <a:buFont typeface="Wingdings" panose="05000000000000000000" pitchFamily="2" charset="2"/>
              <a:buChar char="q"/>
            </a:pPr>
            <a:r>
              <a:rPr lang="en-GB" dirty="0"/>
              <a:t> </a:t>
            </a:r>
            <a:r>
              <a:rPr lang="en-GB" sz="2000" b="1" dirty="0">
                <a:solidFill>
                  <a:schemeClr val="tx1"/>
                </a:solidFill>
              </a:rPr>
              <a:t>Simple Random Sampling </a:t>
            </a:r>
            <a:r>
              <a:rPr lang="en-GB" dirty="0">
                <a:solidFill>
                  <a:schemeClr val="tx1"/>
                </a:solidFill>
              </a:rPr>
              <a:t>-</a:t>
            </a:r>
          </a:p>
          <a:p>
            <a:pPr marL="0" indent="0">
              <a:buNone/>
            </a:pPr>
            <a:r>
              <a:rPr lang="en-GB" dirty="0">
                <a:solidFill>
                  <a:schemeClr val="tx1"/>
                </a:solidFill>
              </a:rPr>
              <a:t>              Every member has an equal chance.</a:t>
            </a:r>
          </a:p>
          <a:p>
            <a:pPr>
              <a:buFont typeface="Wingdings" panose="05000000000000000000" pitchFamily="2" charset="2"/>
              <a:buChar char="q"/>
            </a:pPr>
            <a:r>
              <a:rPr lang="en-GB" dirty="0">
                <a:solidFill>
                  <a:schemeClr val="tx1"/>
                </a:solidFill>
              </a:rPr>
              <a:t> </a:t>
            </a:r>
            <a:r>
              <a:rPr lang="en-GB" sz="2000" dirty="0">
                <a:solidFill>
                  <a:schemeClr val="tx1"/>
                </a:solidFill>
              </a:rPr>
              <a:t>Stratified Sampling </a:t>
            </a:r>
            <a:r>
              <a:rPr lang="en-GB" dirty="0">
                <a:solidFill>
                  <a:schemeClr val="tx1"/>
                </a:solidFill>
              </a:rPr>
              <a:t>-</a:t>
            </a:r>
          </a:p>
          <a:p>
            <a:pPr marL="0" indent="0">
              <a:buNone/>
            </a:pPr>
            <a:r>
              <a:rPr lang="en-GB" dirty="0">
                <a:solidFill>
                  <a:schemeClr val="tx1"/>
                </a:solidFill>
              </a:rPr>
              <a:t>	   A method of sampling that involves the division of a population into smaller sub-group known as strata.</a:t>
            </a:r>
          </a:p>
          <a:p>
            <a:pPr>
              <a:buFont typeface="Wingdings" panose="05000000000000000000" pitchFamily="2" charset="2"/>
              <a:buChar char="q"/>
            </a:pPr>
            <a:r>
              <a:rPr lang="en-GB" dirty="0">
                <a:solidFill>
                  <a:schemeClr val="tx1"/>
                </a:solidFill>
              </a:rPr>
              <a:t> </a:t>
            </a:r>
            <a:r>
              <a:rPr lang="en-GB" sz="2000" dirty="0">
                <a:solidFill>
                  <a:schemeClr val="tx1"/>
                </a:solidFill>
              </a:rPr>
              <a:t>Systematic Sampling </a:t>
            </a:r>
            <a:r>
              <a:rPr lang="en-GB" dirty="0">
                <a:solidFill>
                  <a:schemeClr val="tx1"/>
                </a:solidFill>
              </a:rPr>
              <a:t>- </a:t>
            </a:r>
          </a:p>
          <a:p>
            <a:pPr marL="0" indent="0">
              <a:buNone/>
            </a:pPr>
            <a:r>
              <a:rPr lang="en-GB" dirty="0">
                <a:solidFill>
                  <a:schemeClr val="tx1"/>
                </a:solidFill>
              </a:rPr>
              <a:t>              It is a type of probability sampling that selects items of data at regular intervals from a population.</a:t>
            </a:r>
          </a:p>
          <a:p>
            <a:pPr>
              <a:buFont typeface="Wingdings" panose="05000000000000000000" pitchFamily="2" charset="2"/>
              <a:buChar char="q"/>
            </a:pPr>
            <a:r>
              <a:rPr lang="en-GB" sz="2000" dirty="0">
                <a:solidFill>
                  <a:schemeClr val="tx1"/>
                </a:solidFill>
              </a:rPr>
              <a:t>Cluster Sampling </a:t>
            </a:r>
            <a:r>
              <a:rPr lang="en-GB" dirty="0">
                <a:solidFill>
                  <a:schemeClr val="tx1"/>
                </a:solidFill>
              </a:rPr>
              <a:t>–</a:t>
            </a:r>
          </a:p>
          <a:p>
            <a:pPr marL="0" indent="0">
              <a:buNone/>
            </a:pPr>
            <a:r>
              <a:rPr lang="en-GB" dirty="0">
                <a:solidFill>
                  <a:schemeClr val="tx1"/>
                </a:solidFill>
              </a:rPr>
              <a:t>              Dividing  the population into clusters and randomly selecting entire clusters.</a:t>
            </a:r>
          </a:p>
          <a:p>
            <a:pPr marL="0" indent="0">
              <a:buNone/>
            </a:pPr>
            <a:endParaRPr lang="en-GB" dirty="0"/>
          </a:p>
        </p:txBody>
      </p:sp>
      <p:sp>
        <p:nvSpPr>
          <p:cNvPr id="4" name="AutoShape 4">
            <a:extLst>
              <a:ext uri="{FF2B5EF4-FFF2-40B4-BE49-F238E27FC236}">
                <a16:creationId xmlns:a16="http://schemas.microsoft.com/office/drawing/2014/main" id="{D16C7166-8C15-A352-5B43-F0637E15325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6">
            <a:extLst>
              <a:ext uri="{FF2B5EF4-FFF2-40B4-BE49-F238E27FC236}">
                <a16:creationId xmlns:a16="http://schemas.microsoft.com/office/drawing/2014/main" id="{C62FC232-5986-945C-028B-01735D8FEEF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39229CF2-5815-11BD-F3AA-F6D1B362225B}"/>
              </a:ext>
            </a:extLst>
          </p:cNvPr>
          <p:cNvPicPr>
            <a:picLocks noChangeAspect="1"/>
          </p:cNvPicPr>
          <p:nvPr/>
        </p:nvPicPr>
        <p:blipFill>
          <a:blip r:embed="rId2"/>
          <a:stretch>
            <a:fillRect/>
          </a:stretch>
        </p:blipFill>
        <p:spPr>
          <a:xfrm>
            <a:off x="7202658" y="-230846"/>
            <a:ext cx="5383235" cy="3127519"/>
          </a:xfrm>
          <a:prstGeom prst="rect">
            <a:avLst/>
          </a:prstGeom>
        </p:spPr>
      </p:pic>
    </p:spTree>
    <p:extLst>
      <p:ext uri="{BB962C8B-B14F-4D97-AF65-F5344CB8AC3E}">
        <p14:creationId xmlns:p14="http://schemas.microsoft.com/office/powerpoint/2010/main" val="3474697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71533-7CD2-DA55-FDC7-526AEC3888FB}"/>
              </a:ext>
            </a:extLst>
          </p:cNvPr>
          <p:cNvSpPr>
            <a:spLocks noGrp="1"/>
          </p:cNvSpPr>
          <p:nvPr>
            <p:ph type="title"/>
          </p:nvPr>
        </p:nvSpPr>
        <p:spPr>
          <a:xfrm>
            <a:off x="1581961" y="426720"/>
            <a:ext cx="8596668" cy="1320800"/>
          </a:xfrm>
        </p:spPr>
        <p:txBody>
          <a:bodyPr>
            <a:normAutofit/>
          </a:bodyPr>
          <a:lstStyle/>
          <a:p>
            <a:pPr algn="ctr"/>
            <a:r>
              <a:rPr lang="en-GB" sz="6000" b="1" dirty="0"/>
              <a:t>TYPE OF DATA</a:t>
            </a:r>
          </a:p>
        </p:txBody>
      </p:sp>
      <p:graphicFrame>
        <p:nvGraphicFramePr>
          <p:cNvPr id="6" name="Content Placeholder 5">
            <a:extLst>
              <a:ext uri="{FF2B5EF4-FFF2-40B4-BE49-F238E27FC236}">
                <a16:creationId xmlns:a16="http://schemas.microsoft.com/office/drawing/2014/main" id="{093F0C40-844A-7487-F5B2-BD37ACBC707A}"/>
              </a:ext>
            </a:extLst>
          </p:cNvPr>
          <p:cNvGraphicFramePr>
            <a:graphicFrameLocks noGrp="1"/>
          </p:cNvGraphicFramePr>
          <p:nvPr>
            <p:ph idx="1"/>
            <p:extLst>
              <p:ext uri="{D42A27DB-BD31-4B8C-83A1-F6EECF244321}">
                <p14:modId xmlns:p14="http://schemas.microsoft.com/office/powerpoint/2010/main" val="167599575"/>
              </p:ext>
            </p:extLst>
          </p:nvPr>
        </p:nvGraphicFramePr>
        <p:xfrm>
          <a:off x="838200" y="1980370"/>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9" name="Straight Arrow Connector 8">
            <a:extLst>
              <a:ext uri="{FF2B5EF4-FFF2-40B4-BE49-F238E27FC236}">
                <a16:creationId xmlns:a16="http://schemas.microsoft.com/office/drawing/2014/main" id="{BC78F7DB-ADC3-27AE-0033-57970F43A849}"/>
              </a:ext>
            </a:extLst>
          </p:cNvPr>
          <p:cNvCxnSpPr>
            <a:cxnSpLocks/>
          </p:cNvCxnSpPr>
          <p:nvPr/>
        </p:nvCxnSpPr>
        <p:spPr>
          <a:xfrm flipH="1">
            <a:off x="4107766" y="1266092"/>
            <a:ext cx="1772529" cy="7142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E5CD43CC-8C01-3B16-FFF0-6A5C66D0CB64}"/>
              </a:ext>
            </a:extLst>
          </p:cNvPr>
          <p:cNvCxnSpPr>
            <a:cxnSpLocks/>
          </p:cNvCxnSpPr>
          <p:nvPr/>
        </p:nvCxnSpPr>
        <p:spPr>
          <a:xfrm>
            <a:off x="5880295" y="1266092"/>
            <a:ext cx="1969477" cy="7142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21685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1D32-EC00-EDFB-8D83-BD060F5CDC65}"/>
              </a:ext>
            </a:extLst>
          </p:cNvPr>
          <p:cNvSpPr>
            <a:spLocks noGrp="1"/>
          </p:cNvSpPr>
          <p:nvPr>
            <p:ph type="title"/>
          </p:nvPr>
        </p:nvSpPr>
        <p:spPr>
          <a:xfrm>
            <a:off x="838200" y="365126"/>
            <a:ext cx="10515600" cy="886900"/>
          </a:xfrm>
        </p:spPr>
        <p:txBody>
          <a:bodyPr>
            <a:normAutofit fontScale="90000"/>
          </a:bodyPr>
          <a:lstStyle/>
          <a:p>
            <a:r>
              <a:rPr lang="en-GB" sz="5400" b="1" dirty="0"/>
              <a:t>Qualitative/Categorical Data</a:t>
            </a:r>
          </a:p>
        </p:txBody>
      </p:sp>
      <p:sp>
        <p:nvSpPr>
          <p:cNvPr id="7" name="Content Placeholder 6">
            <a:extLst>
              <a:ext uri="{FF2B5EF4-FFF2-40B4-BE49-F238E27FC236}">
                <a16:creationId xmlns:a16="http://schemas.microsoft.com/office/drawing/2014/main" id="{E5D42837-73F0-233C-1BBC-C4727F76B861}"/>
              </a:ext>
            </a:extLst>
          </p:cNvPr>
          <p:cNvSpPr>
            <a:spLocks noGrp="1"/>
          </p:cNvSpPr>
          <p:nvPr>
            <p:ph idx="1"/>
          </p:nvPr>
        </p:nvSpPr>
        <p:spPr>
          <a:xfrm>
            <a:off x="379828" y="1364566"/>
            <a:ext cx="10973972" cy="5289452"/>
          </a:xfrm>
        </p:spPr>
        <p:txBody>
          <a:bodyPr>
            <a:normAutofit fontScale="92500" lnSpcReduction="10000"/>
          </a:bodyPr>
          <a:lstStyle/>
          <a:p>
            <a:pPr marL="0" indent="0">
              <a:buNone/>
            </a:pPr>
            <a:r>
              <a:rPr lang="en-GB" sz="2100" dirty="0"/>
              <a:t>Qualitative data is used to describe qualities or characteristics of something. It provides answers in words instead of numbers.</a:t>
            </a:r>
          </a:p>
          <a:p>
            <a:pPr marL="0" indent="0">
              <a:buNone/>
            </a:pPr>
            <a:endParaRPr lang="en-GB" sz="2400" dirty="0"/>
          </a:p>
          <a:p>
            <a:pPr marL="0" indent="0">
              <a:buNone/>
            </a:pPr>
            <a:r>
              <a:rPr lang="en-GB" sz="2600" b="1" dirty="0"/>
              <a:t>Qualitative Data are of two types:</a:t>
            </a:r>
          </a:p>
          <a:p>
            <a:pPr>
              <a:buFont typeface="Wingdings" panose="05000000000000000000" pitchFamily="2" charset="2"/>
              <a:buChar char="q"/>
            </a:pPr>
            <a:r>
              <a:rPr lang="en-GB" dirty="0"/>
              <a:t> </a:t>
            </a:r>
            <a:r>
              <a:rPr lang="en-GB" sz="2400" b="1" dirty="0"/>
              <a:t>Nominal Data </a:t>
            </a:r>
            <a:r>
              <a:rPr lang="en-GB" dirty="0"/>
              <a:t>- </a:t>
            </a:r>
            <a:r>
              <a:rPr lang="en-GB" sz="2200" dirty="0"/>
              <a:t>Nominal data is used for naming or labelling. There is no rank or order among categories. Nominal categories are simply different.</a:t>
            </a:r>
          </a:p>
          <a:p>
            <a:pPr marL="0" indent="0">
              <a:buNone/>
            </a:pPr>
            <a:r>
              <a:rPr lang="en-GB" sz="1700" dirty="0"/>
              <a:t>Example:</a:t>
            </a:r>
          </a:p>
          <a:p>
            <a:r>
              <a:rPr lang="en-GB" sz="1700" dirty="0"/>
              <a:t>Gender, such as male or female.  Eye colour, such as brown, blue, or green.</a:t>
            </a:r>
          </a:p>
          <a:p>
            <a:r>
              <a:rPr lang="en-GB" sz="1700" dirty="0"/>
              <a:t>Type of fruit, such as apple, banana, and mango.</a:t>
            </a:r>
            <a:endParaRPr lang="en-GB" sz="1700" b="1" dirty="0"/>
          </a:p>
          <a:p>
            <a:pPr>
              <a:buFont typeface="Wingdings" panose="05000000000000000000" pitchFamily="2" charset="2"/>
              <a:buChar char="q"/>
            </a:pPr>
            <a:r>
              <a:rPr lang="en-GB" dirty="0"/>
              <a:t> </a:t>
            </a:r>
            <a:r>
              <a:rPr lang="en-GB" sz="2400" b="1" dirty="0"/>
              <a:t>Ordinal Data </a:t>
            </a:r>
            <a:r>
              <a:rPr lang="en-GB" dirty="0"/>
              <a:t>- </a:t>
            </a:r>
            <a:r>
              <a:rPr lang="en-GB" sz="2200" dirty="0"/>
              <a:t>Ordinal data contains values that have a defined order. Ordinal data can be ordered low-to-high or high-to-low.</a:t>
            </a:r>
          </a:p>
          <a:p>
            <a:pPr marL="0" indent="0">
              <a:buNone/>
            </a:pPr>
            <a:r>
              <a:rPr lang="en-GB" sz="1700" dirty="0"/>
              <a:t>Example:</a:t>
            </a:r>
          </a:p>
          <a:p>
            <a:r>
              <a:rPr lang="en-GB" sz="1700" dirty="0"/>
              <a:t>Education level, such as high school, bachelor’s, master’s.</a:t>
            </a:r>
          </a:p>
          <a:p>
            <a:r>
              <a:rPr lang="en-GB" sz="1700" dirty="0"/>
              <a:t>Race positions, such as 1st, 2nd, and 3rd.</a:t>
            </a:r>
          </a:p>
          <a:p>
            <a:pPr marL="0" indent="0">
              <a:buNone/>
            </a:pPr>
            <a:endParaRPr lang="en-GB" sz="2000" b="1" dirty="0"/>
          </a:p>
        </p:txBody>
      </p:sp>
    </p:spTree>
    <p:extLst>
      <p:ext uri="{BB962C8B-B14F-4D97-AF65-F5344CB8AC3E}">
        <p14:creationId xmlns:p14="http://schemas.microsoft.com/office/powerpoint/2010/main" val="2099321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AB56C-DE4C-9BB8-3847-7406D0203D6F}"/>
              </a:ext>
            </a:extLst>
          </p:cNvPr>
          <p:cNvSpPr>
            <a:spLocks noGrp="1"/>
          </p:cNvSpPr>
          <p:nvPr>
            <p:ph type="title"/>
          </p:nvPr>
        </p:nvSpPr>
        <p:spPr>
          <a:xfrm>
            <a:off x="838200" y="365126"/>
            <a:ext cx="10515600" cy="858764"/>
          </a:xfrm>
        </p:spPr>
        <p:txBody>
          <a:bodyPr>
            <a:normAutofit fontScale="90000"/>
          </a:bodyPr>
          <a:lstStyle/>
          <a:p>
            <a:r>
              <a:rPr lang="en-GB" sz="5400" b="1" dirty="0"/>
              <a:t>Quantitative/Numerical Data</a:t>
            </a:r>
          </a:p>
        </p:txBody>
      </p:sp>
      <p:sp>
        <p:nvSpPr>
          <p:cNvPr id="3" name="Content Placeholder 2">
            <a:extLst>
              <a:ext uri="{FF2B5EF4-FFF2-40B4-BE49-F238E27FC236}">
                <a16:creationId xmlns:a16="http://schemas.microsoft.com/office/drawing/2014/main" id="{E3DEE430-8B2F-FED6-552D-2C451C81F975}"/>
              </a:ext>
            </a:extLst>
          </p:cNvPr>
          <p:cNvSpPr>
            <a:spLocks noGrp="1"/>
          </p:cNvSpPr>
          <p:nvPr>
            <p:ph idx="1"/>
          </p:nvPr>
        </p:nvSpPr>
        <p:spPr>
          <a:xfrm>
            <a:off x="393895" y="1378635"/>
            <a:ext cx="10959905" cy="5289452"/>
          </a:xfrm>
        </p:spPr>
        <p:txBody>
          <a:bodyPr>
            <a:normAutofit fontScale="85000" lnSpcReduction="20000"/>
          </a:bodyPr>
          <a:lstStyle/>
          <a:p>
            <a:pPr marL="0" indent="0">
              <a:buNone/>
            </a:pPr>
            <a:r>
              <a:rPr lang="en-GB" sz="2200" dirty="0"/>
              <a:t>Quantitative data involves numbers. It can be counted, measured, and calculated.</a:t>
            </a:r>
          </a:p>
          <a:p>
            <a:pPr marL="0" indent="0">
              <a:buNone/>
            </a:pPr>
            <a:endParaRPr lang="en-GB" sz="2200" dirty="0"/>
          </a:p>
          <a:p>
            <a:pPr marL="0" indent="0">
              <a:buNone/>
            </a:pPr>
            <a:r>
              <a:rPr lang="en-GB" sz="3000" dirty="0"/>
              <a:t>Quantitative Data are of two types:</a:t>
            </a:r>
          </a:p>
          <a:p>
            <a:pPr>
              <a:buFont typeface="Wingdings" panose="05000000000000000000" pitchFamily="2" charset="2"/>
              <a:buChar char="q"/>
            </a:pPr>
            <a:r>
              <a:rPr lang="en-GB" dirty="0"/>
              <a:t> </a:t>
            </a:r>
            <a:r>
              <a:rPr lang="en-GB" sz="2600" b="1" dirty="0"/>
              <a:t>Discrete</a:t>
            </a:r>
            <a:r>
              <a:rPr lang="en-GB" sz="2400" b="1" dirty="0"/>
              <a:t> </a:t>
            </a:r>
            <a:r>
              <a:rPr lang="en-GB" sz="2600" b="1" dirty="0"/>
              <a:t>Data</a:t>
            </a:r>
            <a:r>
              <a:rPr lang="en-GB" sz="2400" b="1" dirty="0"/>
              <a:t> </a:t>
            </a:r>
            <a:r>
              <a:rPr lang="en-GB" dirty="0"/>
              <a:t>- </a:t>
            </a:r>
            <a:r>
              <a:rPr lang="en-GB" sz="2400" dirty="0"/>
              <a:t>Discrete data refers to whole numbers. These are values you can count one by one. They are not fractions or decimals.</a:t>
            </a:r>
          </a:p>
          <a:p>
            <a:pPr marL="0" indent="0">
              <a:buNone/>
            </a:pPr>
            <a:r>
              <a:rPr lang="en-GB" sz="1900" dirty="0"/>
              <a:t>Example:</a:t>
            </a:r>
          </a:p>
          <a:p>
            <a:r>
              <a:rPr lang="en-GB" sz="1900" dirty="0"/>
              <a:t>Number of students in a classroom.</a:t>
            </a:r>
          </a:p>
          <a:p>
            <a:r>
              <a:rPr lang="en-GB" sz="1900" dirty="0"/>
              <a:t>Number of cars in a parking lot.</a:t>
            </a:r>
          </a:p>
          <a:p>
            <a:r>
              <a:rPr lang="en-GB" sz="1900" dirty="0"/>
              <a:t>Number of pages in a book.</a:t>
            </a:r>
          </a:p>
          <a:p>
            <a:pPr>
              <a:buFont typeface="Wingdings" panose="05000000000000000000" pitchFamily="2" charset="2"/>
              <a:buChar char="q"/>
            </a:pPr>
            <a:r>
              <a:rPr lang="en-GB" sz="2600" b="1" dirty="0"/>
              <a:t>Continuous Data </a:t>
            </a:r>
            <a:r>
              <a:rPr lang="en-GB" sz="2400" b="1" dirty="0"/>
              <a:t>- </a:t>
            </a:r>
            <a:r>
              <a:rPr lang="en-GB" sz="2400" dirty="0"/>
              <a:t>Continuous data can consist of any value in a given range. It can consist of fractions and decimal numbers. Continuous data is more likely to be measured than counted.</a:t>
            </a:r>
          </a:p>
          <a:p>
            <a:pPr marL="0" indent="0">
              <a:buNone/>
            </a:pPr>
            <a:r>
              <a:rPr lang="en-GB" sz="1900" dirty="0"/>
              <a:t>Example:</a:t>
            </a:r>
          </a:p>
          <a:p>
            <a:r>
              <a:rPr lang="en-GB" sz="1900" dirty="0"/>
              <a:t>Height of a person.</a:t>
            </a:r>
          </a:p>
          <a:p>
            <a:r>
              <a:rPr lang="en-GB" sz="1900" dirty="0"/>
              <a:t>Temperature.</a:t>
            </a:r>
          </a:p>
          <a:p>
            <a:r>
              <a:rPr lang="en-GB" sz="1900" dirty="0"/>
              <a:t>Weight.</a:t>
            </a:r>
          </a:p>
          <a:p>
            <a:pPr marL="0" indent="0">
              <a:buNone/>
            </a:pPr>
            <a:endParaRPr lang="en-GB" sz="2200" dirty="0"/>
          </a:p>
          <a:p>
            <a:pPr>
              <a:buFont typeface="Wingdings" panose="05000000000000000000" pitchFamily="2" charset="2"/>
              <a:buChar char="q"/>
            </a:pPr>
            <a:endParaRPr lang="en-GB" sz="1800" dirty="0"/>
          </a:p>
          <a:p>
            <a:pPr marL="0" indent="0">
              <a:buNone/>
            </a:pPr>
            <a:endParaRPr lang="en-GB" sz="2200" dirty="0"/>
          </a:p>
          <a:p>
            <a:pPr>
              <a:buFont typeface="Wingdings" panose="05000000000000000000" pitchFamily="2" charset="2"/>
              <a:buChar char="q"/>
            </a:pPr>
            <a:endParaRPr lang="en-GB" sz="3000" dirty="0"/>
          </a:p>
          <a:p>
            <a:pPr marL="0" indent="0">
              <a:buNone/>
            </a:pPr>
            <a:endParaRPr lang="en-GB" sz="2200" dirty="0"/>
          </a:p>
        </p:txBody>
      </p:sp>
    </p:spTree>
    <p:extLst>
      <p:ext uri="{BB962C8B-B14F-4D97-AF65-F5344CB8AC3E}">
        <p14:creationId xmlns:p14="http://schemas.microsoft.com/office/powerpoint/2010/main" val="55407146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339</TotalTime>
  <Words>554</Words>
  <Application>Microsoft Office PowerPoint</Application>
  <PresentationFormat>Widescreen</PresentationFormat>
  <Paragraphs>197</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Trebuchet MS</vt:lpstr>
      <vt:lpstr>Wingdings</vt:lpstr>
      <vt:lpstr>Wingdings 3</vt:lpstr>
      <vt:lpstr>Facet</vt:lpstr>
      <vt:lpstr>STATISTICS</vt:lpstr>
      <vt:lpstr>STATISTICS</vt:lpstr>
      <vt:lpstr>Why Statistics is Important?</vt:lpstr>
      <vt:lpstr>Type of Statistics</vt:lpstr>
      <vt:lpstr>Population</vt:lpstr>
      <vt:lpstr>Sampling Techniques</vt:lpstr>
      <vt:lpstr>TYPE OF DATA</vt:lpstr>
      <vt:lpstr>Qualitative/Categorical Data</vt:lpstr>
      <vt:lpstr>Quantitative/Numerical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8</cp:revision>
  <dcterms:created xsi:type="dcterms:W3CDTF">2026-01-12T04:33:09Z</dcterms:created>
  <dcterms:modified xsi:type="dcterms:W3CDTF">2026-01-12T13:51:34Z</dcterms:modified>
</cp:coreProperties>
</file>